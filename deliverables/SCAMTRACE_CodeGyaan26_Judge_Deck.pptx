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6c0be075f74b81" /><Relationship Type="http://schemas.openxmlformats.org/officeDocument/2006/relationships/extended-properties" Target="/docProps/app.xml" Id="Rf922435abc024b7a" /><Relationship Type="http://schemas.openxmlformats.org/officeDocument/2006/relationships/officeDocument" Target="/ppt/presentation.xml" Id="Rad016e81f6f14f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d6f28e74ae4e90"/>
  </p:sldMasterIdLst>
  <p:notesMasterIdLst>
    <p:notesMasterId xmlns:r="http://schemas.openxmlformats.org/officeDocument/2006/relationships" r:id="R2e4a65e7eb4c4aa9"/>
  </p:notesMasterIdLst>
  <p:sldIdLst>
    <p:sldId xmlns:r="http://schemas.openxmlformats.org/officeDocument/2006/relationships" id="256" r:id="R8181bb107f7b4d23"/>
    <p:sldId xmlns:r="http://schemas.openxmlformats.org/officeDocument/2006/relationships" id="257" r:id="R6db03eab35134ced"/>
    <p:sldId xmlns:r="http://schemas.openxmlformats.org/officeDocument/2006/relationships" id="258" r:id="R1a68b03fee6f4141"/>
    <p:sldId xmlns:r="http://schemas.openxmlformats.org/officeDocument/2006/relationships" id="259" r:id="R316e9c370eb24388"/>
    <p:sldId xmlns:r="http://schemas.openxmlformats.org/officeDocument/2006/relationships" id="260" r:id="R636b78e6a1be4717"/>
    <p:sldId xmlns:r="http://schemas.openxmlformats.org/officeDocument/2006/relationships" id="261" r:id="Rb12ffc7f9f7440ca"/>
    <p:sldId xmlns:r="http://schemas.openxmlformats.org/officeDocument/2006/relationships" id="262" r:id="Rca7987b17089457c"/>
    <p:sldId xmlns:r="http://schemas.openxmlformats.org/officeDocument/2006/relationships" id="263" r:id="Re3b4191e77ed4fe1"/>
    <p:sldId xmlns:r="http://schemas.openxmlformats.org/officeDocument/2006/relationships" id="264" r:id="Rb2a1d22cfe4244db"/>
    <p:sldId xmlns:r="http://schemas.openxmlformats.org/officeDocument/2006/relationships" id="265" r:id="Rf995579087f2463d"/>
    <p:sldId xmlns:r="http://schemas.openxmlformats.org/officeDocument/2006/relationships" id="266" r:id="R4bbd3044fdba41c4"/>
    <p:sldId xmlns:r="http://schemas.openxmlformats.org/officeDocument/2006/relationships" id="267" r:id="Rd8fd8c2d7f5a46e8"/>
    <p:sldId xmlns:r="http://schemas.openxmlformats.org/officeDocument/2006/relationships" id="268" r:id="Rcb1515043bce4f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b678eedb3d4bf6" /><Relationship Type="http://schemas.openxmlformats.org/officeDocument/2006/relationships/slideMaster" Target="/ppt/slideMasters/slideMaster1.xml" Id="Ra2d6f28e74ae4e90" /><Relationship Type="http://schemas.openxmlformats.org/officeDocument/2006/relationships/notesMaster" Target="/ppt/notesMasters/notesMaster1.xml" Id="R2e4a65e7eb4c4aa9" /><Relationship Type="http://schemas.openxmlformats.org/officeDocument/2006/relationships/presProps" Target="/ppt/presProps.xml" Id="Rad08580d994e4cd2" /><Relationship Type="http://schemas.openxmlformats.org/officeDocument/2006/relationships/tableStyles" Target="/ppt/tableStyles.xml" Id="R40c5ccac898f40e2" /><Relationship Type="http://schemas.openxmlformats.org/officeDocument/2006/relationships/slide" Target="/ppt/slides/slide1.xml" Id="R8181bb107f7b4d23" /><Relationship Type="http://schemas.openxmlformats.org/officeDocument/2006/relationships/slide" Target="/ppt/slides/slide2.xml" Id="R6db03eab35134ced" /><Relationship Type="http://schemas.openxmlformats.org/officeDocument/2006/relationships/slide" Target="/ppt/slides/slide3.xml" Id="R1a68b03fee6f4141" /><Relationship Type="http://schemas.openxmlformats.org/officeDocument/2006/relationships/slide" Target="/ppt/slides/slide4.xml" Id="R316e9c370eb24388" /><Relationship Type="http://schemas.openxmlformats.org/officeDocument/2006/relationships/slide" Target="/ppt/slides/slide5.xml" Id="R636b78e6a1be4717" /><Relationship Type="http://schemas.openxmlformats.org/officeDocument/2006/relationships/slide" Target="/ppt/slides/slide6.xml" Id="Rb12ffc7f9f7440ca" /><Relationship Type="http://schemas.openxmlformats.org/officeDocument/2006/relationships/slide" Target="/ppt/slides/slide7.xml" Id="Rca7987b17089457c" /><Relationship Type="http://schemas.openxmlformats.org/officeDocument/2006/relationships/slide" Target="/ppt/slides/slide8.xml" Id="Re3b4191e77ed4fe1" /><Relationship Type="http://schemas.openxmlformats.org/officeDocument/2006/relationships/slide" Target="/ppt/slides/slide9.xml" Id="Rb2a1d22cfe4244db" /><Relationship Type="http://schemas.openxmlformats.org/officeDocument/2006/relationships/slide" Target="/ppt/slides/slide10.xml" Id="Rf995579087f2463d" /><Relationship Type="http://schemas.openxmlformats.org/officeDocument/2006/relationships/slide" Target="/ppt/slides/slide11.xml" Id="R4bbd3044fdba41c4" /><Relationship Type="http://schemas.openxmlformats.org/officeDocument/2006/relationships/slide" Target="/ppt/slides/slide12.xml" Id="Rd8fd8c2d7f5a46e8" /><Relationship Type="http://schemas.openxmlformats.org/officeDocument/2006/relationships/slide" Target="/ppt/slides/slide13.xml" Id="Rcb1515043bce4f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78f65ece6148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69b4eea4c34fdf" /><Relationship Type="http://schemas.openxmlformats.org/officeDocument/2006/relationships/notesMaster" Target="/ppt/notesMasters/notesMaster1.xml" Id="R64fe1bdf63b749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5e16243bb34868" /><Relationship Type="http://schemas.openxmlformats.org/officeDocument/2006/relationships/notesMaster" Target="/ppt/notesMasters/notesMaster1.xml" Id="Ra96df30215634e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0636bff92e4b48" /><Relationship Type="http://schemas.openxmlformats.org/officeDocument/2006/relationships/notesMaster" Target="/ppt/notesMasters/notesMaster1.xml" Id="Rffd766bb39ad4f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8f86728f5f490c" /><Relationship Type="http://schemas.openxmlformats.org/officeDocument/2006/relationships/notesMaster" Target="/ppt/notesMasters/notesMaster1.xml" Id="R9e59cdfbad154c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02ec2dda034757" /><Relationship Type="http://schemas.openxmlformats.org/officeDocument/2006/relationships/notesMaster" Target="/ppt/notesMasters/notesMaster1.xml" Id="R61b432aeeb2d4a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0dae3728014f2c" /><Relationship Type="http://schemas.openxmlformats.org/officeDocument/2006/relationships/notesMaster" Target="/ppt/notesMasters/notesMaster1.xml" Id="R0cb6f2fec80740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5891a1c0544963" /><Relationship Type="http://schemas.openxmlformats.org/officeDocument/2006/relationships/notesMaster" Target="/ppt/notesMasters/notesMaster1.xml" Id="R73df50b86d7c4d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7059cfd08241f6" /><Relationship Type="http://schemas.openxmlformats.org/officeDocument/2006/relationships/notesMaster" Target="/ppt/notesMasters/notesMaster1.xml" Id="Rd233f952040545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1d142a16974241" /><Relationship Type="http://schemas.openxmlformats.org/officeDocument/2006/relationships/notesMaster" Target="/ppt/notesMasters/notesMaster1.xml" Id="R6c41b2b20b174e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ddfaeb00c74065" /><Relationship Type="http://schemas.openxmlformats.org/officeDocument/2006/relationships/notesMaster" Target="/ppt/notesMasters/notesMaster1.xml" Id="R36f22f9823874b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a30cbb29d54fe9" /><Relationship Type="http://schemas.openxmlformats.org/officeDocument/2006/relationships/notesMaster" Target="/ppt/notesMasters/notesMaster1.xml" Id="R20aa2dd1caf84f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5429a76930419d" /><Relationship Type="http://schemas.openxmlformats.org/officeDocument/2006/relationships/notesMaster" Target="/ppt/notesMasters/notesMaster1.xml" Id="R280dbe1b6e7f46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f00e6b0e714eca" /><Relationship Type="http://schemas.openxmlformats.org/officeDocument/2006/relationships/notesMaster" Target="/ppt/notesMasters/notesMaster1.xml" Id="Rd43cbc46129d44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image: generated concept art for SCAMTRACE. Present the project in one sentence: a local system that spots social-engineering behavior as a conversation unfolds.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Ministry of Home Affairs, Rajya Sabha USQ 1341, 11 Feb 2026, https://sansad.in/getFile/annex/270/AU1341_tmaxdx.pdf?source=pqars</a:t>
            </a:r>
          </a:p>
          <a:p xmlns:a="http://schemas.openxmlformats.org/drawingml/2006/main">
            <a:r>
              <a:t>MHA/PIB advisory on digital-arrest fraud, 14 May 2024, https://www.pib.gov.in/Pressreleaseshare.aspx?PRID=2020570&amp;lang=2&amp;reg=48</a:t>
            </a:r>
          </a:p>
          <a:p xmlns:a="http://schemas.openxmlformats.org/drawingml/2006/main">
            <a:r>
              <a:t>Use precise wording: ₹22,495 crore is the amount reported by citizens, not a confirmed-loss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definition: SCAMTRACE is a decision-support layer. It does not accuse a caller of a crime and does not depend on a deepfake signal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Motion cue: this slide uses a fade transition. Reveal the four points in sequence while speaking. Measured local real-time scenario: VERIFY 28 at 8s, HIGH 47 at 18s, HIGH 60 at 27s, CRITICAL 100 at 38s.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 editable native PowerPoint content. Key implementation detail: realtime sessions are bounded in local memory and are explicitly closed after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hard contrast example: ‘Never share your OTP’ differs from ‘Share the OTP with me.’ The engine preserves this behavioral distinction.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STDM-1 as production-ready. Explain that a calibrated decision requires consented, multilingual, speaker-disjoint real-call data. Current shadow mode is deliberate risk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locally in this workspace. Full SCAMTRACE regression suite is curated and must not be presented as independent real-world accuracy. Benchmark reports: reports/performance.json and reports/evaluation.json.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scripts/realtime_demo.py --scenario human_digital_arrest. Use the real local browser for the audio-upload or text scenario. Keep Wi-Fi disabled after setup to demonstrate offline inference.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components are currently present in the repository. The project runs with ./run.sh after local model setup.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visual: generated concept art, not a real photograph. Reference: PMO/PIB, 27 Oct 2024, states there is no legal system of ‘digital arrest’ and recommends Stop–Think–Take Action and reporting through 1930/cybercrime.gov.in: https://www.pib.gov.in/PressReleasePage.aspx?PRID=2068606&amp;lang=2&amp;reg=48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Motion cue: fade into this closing slide after the live demo. End with the tagline, then invite judges to try the real-time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sources:</a:t>
            </a:r>
          </a:p>
          <a:p xmlns:a="http://schemas.openxmlformats.org/drawingml/2006/main">
            <a:r>
              <a:t>1. https://sansad.in/getFile/annex/270/AU1341_tmaxdx.pdf?source=pqars</a:t>
            </a:r>
          </a:p>
          <a:p xmlns:a="http://schemas.openxmlformats.org/drawingml/2006/main">
            <a:r>
              <a:t>2. https://www.pib.gov.in/Pressreleaseshare.aspx?PRID=2020570&amp;lang=2&amp;reg=48</a:t>
            </a:r>
          </a:p>
          <a:p xmlns:a="http://schemas.openxmlformats.org/drawingml/2006/main">
            <a:r>
              <a:t>3. https://www.pib.gov.in/PressReleasePage.aspx?PRID=2068606&amp;lang=2&amp;reg=48</a:t>
            </a:r>
          </a:p>
          <a:p xmlns:a="http://schemas.openxmlformats.org/drawingml/2006/main">
            <a:r>
              <a:t>4. https://sansad.in/getFile/rsnew/Committee_site/Committee_File/ReportFile/15/197/254_2025_8_12.pdf?source=rajyasabha</a:t>
            </a:r>
          </a:p>
          <a:p xmlns:a="http://schemas.openxmlformats.org/drawingml/2006/main">
            <a:r>
              <a:t>5. https://www.cert-in.org.in/s2cMainServlet?VLCODE=CIAD-2024-0060&amp;pageid=PUBVLNOTES02</a:t>
            </a:r>
          </a:p>
          <a:p xmlns:a="http://schemas.openxmlformats.org/drawingml/2006/main">
            <a:r>
              <a:t>6. https://cdn.openai.com/papers/whisper.pdf</a:t>
            </a:r>
          </a:p>
          <a:p xmlns:a="http://schemas.openxmlformats.org/drawingml/2006/main">
            <a:r>
              <a:t>7. https://doi.org/10.48550/arXiv.2109.00537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e6e02aa2147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a4c45363d84f18" /><Relationship Type="http://schemas.openxmlformats.org/officeDocument/2006/relationships/slideLayout" Target="/ppt/slideLayouts/slideLayout1.xml" Id="R873a549db23049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3a549db23049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94d6397204e64" /><Relationship Type="http://schemas.openxmlformats.org/officeDocument/2006/relationships/image" Target="/ppt/media/image.png" Id="R2d5d2109d80b4433" /><Relationship Type="http://schemas.openxmlformats.org/officeDocument/2006/relationships/notesSlide" Target="/ppt/notesSlides/notesSlide1.xml" Id="R3f471519e56e41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bf268fcd7498f" /><Relationship Type="http://schemas.openxmlformats.org/officeDocument/2006/relationships/notesSlide" Target="/ppt/notesSlides/notesSlide2.xml" Id="R607f74d88b2d41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81477097d4595" /><Relationship Type="http://schemas.openxmlformats.org/officeDocument/2006/relationships/notesSlide" Target="/ppt/notesSlides/notesSlide3.xml" Id="R5292b1fcb94046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f3fc97fa04469" /><Relationship Type="http://schemas.openxmlformats.org/officeDocument/2006/relationships/notesSlide" Target="/ppt/notesSlides/notesSlide4.xml" Id="R9281efd643194a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013496c0f44b8" /><Relationship Type="http://schemas.openxmlformats.org/officeDocument/2006/relationships/notesSlide" Target="/ppt/notesSlides/notesSlide5.xml" Id="R75baaa00fd0b42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f5699ae754442" /><Relationship Type="http://schemas.openxmlformats.org/officeDocument/2006/relationships/notesSlide" Target="/ppt/notesSlides/notesSlide6.xml" Id="R6a3e886a128f4e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3a74c1ee94a4c" /><Relationship Type="http://schemas.openxmlformats.org/officeDocument/2006/relationships/notesSlide" Target="/ppt/notesSlides/notesSlide7.xml" Id="R00a9a1ecff834f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5ddcef8474fcf" /><Relationship Type="http://schemas.openxmlformats.org/officeDocument/2006/relationships/notesSlide" Target="/ppt/notesSlides/notesSlide8.xml" Id="Rc5f98e7341a248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2646e18bc49bb" /><Relationship Type="http://schemas.openxmlformats.org/officeDocument/2006/relationships/notesSlide" Target="/ppt/notesSlides/notesSlide9.xml" Id="R4c5f90ae9ac24f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1799ff00b4921" /><Relationship Type="http://schemas.openxmlformats.org/officeDocument/2006/relationships/notesSlide" Target="/ppt/notesSlides/notesSlide10.xml" Id="R3d384c25d16a4b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182472af544fe" /><Relationship Type="http://schemas.openxmlformats.org/officeDocument/2006/relationships/image" Target="/ppt/media/image2.png" Id="R8a057f72cf694620" /><Relationship Type="http://schemas.openxmlformats.org/officeDocument/2006/relationships/notesSlide" Target="/ppt/notesSlides/notesSlide11.xml" Id="R76718c25200449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d655f792e4124" /><Relationship Type="http://schemas.openxmlformats.org/officeDocument/2006/relationships/notesSlide" Target="/ppt/notesSlides/notesSlide12.xml" Id="R4bd04ca35c7d477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3980b5be14dba" /><Relationship Type="http://schemas.openxmlformats.org/officeDocument/2006/relationships/notesSlide" Target="/ppt/notesSlides/notesSlide13.xml" Id="Ra7caff9d608740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d2109d80b443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0B202-AA8F-49BC-BC91-1B8AB923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11D">
                  <a:alpha val="93333"/>
                </a:srgbClr>
              </a:gs>
              <a:gs pos="60000">
                <a:srgbClr val="06111D">
                  <a:alpha val="73333"/>
                </a:srgbClr>
              </a:gs>
              <a:gs pos="100000">
                <a:srgbClr val="06111D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9CA34-658F-4989-94D0-7117FDB3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B6D04-4744-48AA-8987-ED39A2DD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903"/>
          </a:bodyPr>
          <a:lstStyle xmlns:a="http://schemas.openxmlformats.org/drawingml/2006/main"/>
          <a:p xmlns:a="http://schemas.openxmlformats.org/drawingml/2006/main">
            <a:pPr>
              <a:defRPr sz="4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SCAMTRACE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E135E-6DF0-421F-9F70-18B76D63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Conversational Attack Firewall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B1624-CCE8-4771-A746-A7942F69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Detect the manipulation.</a:t>
            </a:r>
          </a:p>
          <a:p xmlns:a="http://schemas.openxmlformats.org/drawingml/2006/main">
            <a:pPr>
              <a:def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Explain the attack.</a:t>
            </a:r>
          </a:p>
          <a:p xmlns:a="http://schemas.openxmlformats.org/drawingml/2006/main">
            <a:pPr>
              <a:def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Protect the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82947-E6BE-4C70-9231-E2A2A925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9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 privacy-preserving AI security layer for live conversations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A99D1-5927-4067-9C84-77129946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  ·  AI for Inclusive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5881330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29AB5-8DA9-4383-A367-9F3E3D83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2167F-B4C3-4028-A4D0-AC2831DC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1433A-C44F-4753-854B-FF2A2803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F2F1C-A238-42E1-852F-0C9452CA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BD08D-774C-45BC-B409-8A6358DB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The scam happens inside the conversation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E230C-3018-4A30-B079-3C8F3C42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Fraud relies on authority, fear, isolation and an irreversible request.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18BD8-96BE-4E85-BDE8-33A8AB4A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66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24,02,579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9ACD0-D6CF-4501-939D-42D7AD71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financial cyber-fraud complaints received by NCRP in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B00BC-3013-4B22-A02F-9E3BCB0C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45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F2DB1-252D-434B-8687-1B4947D0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₹22,495 crore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CF4AF-EAA2-4F9A-8301-30B36B19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861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amount reported by citizens in those 2025 complaints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E3586-9A74-4F53-B187-0097FF8C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Digital-arrest fraud scripts impersonate police, CBI, RBI or customs. They invent a crime, force secrecy and demand money.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3FC2D-D0F5-44A7-8958-2E1405DF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38375"/>
            <a:ext cx="29527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A1C2B"/>
          </a:solidFill>
          <a:ln xmlns:a="http://schemas.openxmlformats.org/drawingml/2006/main" w="9525">
            <a:solidFill>
              <a:srgbClr val="2950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053BB-9FD0-4C58-9B04-2AD90FB0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THE DECISION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A22A2-F89B-4CFB-B268-BDDF344A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037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54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A victim has seconds to decide while the caller controls the story.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B6736-ACB6-4FFD-9777-C65D44F5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6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2D5A0-5BFE-4A3C-85CD-0AED74C0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386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57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The intervention must work before payment or credential sharing.</a:t>
            </a:r>
          </a:p>
        </p:txBody>
      </p:sp>
    </p:spTree>
    <p:extLst>
      <p:ext uri="{BB962C8B-B14F-4D97-AF65-F5344CB8AC3E}">
        <p14:creationId xmlns:p14="http://schemas.microsoft.com/office/powerpoint/2010/main" val="10787971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5316FE-7E66-43B4-84FA-C40A3DD4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EF77D-FD9A-4F63-BF02-763BC2C8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A02AF-E963-44C9-AFF0-7ADCC3DF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F92B1-F88D-41F6-9883-10FEE5E2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BB629-1A71-4E51-BCF8-89F7A7A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A local security layer for live conversations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A86C9-2DD3-49F9-BD68-A073A23F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reads how a conversation behaves, then gives an explainable intervention.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F09AD-B507-4C66-86C9-84FF2BB6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B52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ED6C4-368D-4B2A-A29B-DD77525E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099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0D0FF-A360-47F5-9C78-37FD002E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CONVERSATION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2C154-9AC5-43DD-ACEF-5154AF99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429125"/>
            <a:ext cx="146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Audio or text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English, Tamil, Hindi, Hinglish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552CD-023D-4A3F-8E47-989F1B20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33375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607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078D5-12A0-4DCD-9F62-CA0186CE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48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B52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B64C8-A559-4A8A-BACD-69DC3E46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2099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42698-CABA-43C8-AFE8-14B28E91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00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LOCAL ASR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F07FF-DB3B-4098-87E8-371505FF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429125"/>
            <a:ext cx="146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Timestamped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local transcript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94E8A-FAFA-468E-8629-00D9B986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3375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607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E26EB-04FE-4C92-85ED-8A18FCA8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B526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39C23-334D-4C9F-BC1C-2FFE22E4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099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D3490-AC0C-4FC4-B8C6-CADCC005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00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50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BEHAVIOR 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45B0C-9261-47A1-BE97-A622BE76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429125"/>
            <a:ext cx="146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Authority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Threat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Isolation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Extraction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558CCB-E15B-40A1-AFB1-AA5687D2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3375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607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7576A-67B7-496D-8197-023FACB6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48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B52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E780F-643B-45A8-9C88-38448231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099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AC550F-F312-4D8C-8DA0-69DA72FC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00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THREAT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C841BB-4358-4636-B439-B22FBFC8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429125"/>
            <a:ext cx="146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Timeline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Uncertainty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1F80F7-787B-47E3-8D60-2B5E92A7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333750"/>
            <a:ext cx="106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FB22A1-0C72-41A0-9732-454F2A2A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0480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AA8351-EAE0-4D23-A61A-7453F1CE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209925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C4176A-F245-463F-8B2A-6A7CB5C9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005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SAFE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FC0CBA-BAD2-4927-9CB7-26C54716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429125"/>
            <a:ext cx="1466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Stop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Verify independently</a:t>
            </a:r>
          </a:p>
          <a:p xmlns:a="http://schemas.openxmlformats.org/drawingml/2006/main">
            <a:pPr>
              <a:def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Protect accounts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25377B-F8BD-428D-A822-5C23B024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Privacy boundary: audio processing, ASR and inference stay local. Cloud API calls: none.</a:t>
            </a:r>
          </a:p>
        </p:txBody>
      </p:sp>
    </p:spTree>
    <p:extLst>
      <p:ext uri="{BB962C8B-B14F-4D97-AF65-F5344CB8AC3E}">
        <p14:creationId xmlns:p14="http://schemas.microsoft.com/office/powerpoint/2010/main" val="13901620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90A4E1-578F-43AA-AF83-1AC11758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LIVE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12CFD-93E6-47C2-8670-ED3D21BF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CB090-7A1D-45C9-A855-6CDC03F1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C7287-F6B5-4DF2-9010-B3FC5706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0ACE5-A1B3-406F-B992-BA702F67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Threat escalation across a single call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389C4-D75B-4104-A4C8-352C0318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The score changes when the evidence changes. It is not a decorative confidence number.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E6F98-6699-4796-8385-E09AFEE8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33750"/>
            <a:ext cx="885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0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F955F-2D54-4707-B843-271B0848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5FDA3-481E-4E74-98AB-6059DC41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193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00:08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0B9BB-8B0B-4A19-BF24-26582745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D9FE4-EED8-4BE1-97C5-878118CB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100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28 / 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BC8EB-5BF4-4B9B-81DC-18F20423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Authority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3DE2E-3BC8-4DFF-9ECC-2D8D26EE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6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FE8D2-BD93-444C-B931-393196B5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193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00:18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B1851E-E1B2-47FD-819E-A9C3F279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576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9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9A64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BD0AB-6384-4E83-8F2F-4D10316E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100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47 / 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EFBFD-71F3-4042-A8C4-2B5AD419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572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Crime allegation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BC2B42-6692-401B-B971-D90AD73D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6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D9064-1368-4097-94D4-99F8BE23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193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00:27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9DCD86-FE5D-4638-AE34-D8295C0C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8576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9A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9A64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20409-34D8-4CAA-9392-1792F844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100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60 / 100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7179C3-5E04-4F15-825F-8896761F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72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Isolation attempt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8A975E-1850-4511-8BFA-E840F5B9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6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B4B48B-AB96-4E05-BF83-63A49E5F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19375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00:38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3E5777-B595-44D3-BF14-5FCC1995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576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6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626C"/>
                </a:solidFill>
                <a:latin typeface="Helvetica Neue"/>
                <a:ea typeface="Helvetica Neue"/>
                <a:cs typeface="Helvetica Neue"/>
              </a:rPr>
              <a:t>CRITICAL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34EF2D-4EAA-45AA-ACEC-05A35759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100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100 / 100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1DDBDC-5387-45A4-8D34-B5C3A3FF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5720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Payment request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9BFE08-D356-4171-A07F-BAA955C5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245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0" i="1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1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“Do not disconnect. Transfer money to the safe account immediately.”</a:t>
            </a:r>
          </a:p>
        </p:txBody>
      </p:sp>
    </p:spTree>
    <p:extLst>
      <p:ext uri="{BB962C8B-B14F-4D97-AF65-F5344CB8AC3E}">
        <p14:creationId xmlns:p14="http://schemas.microsoft.com/office/powerpoint/2010/main" val="11636829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10C40-7BFF-490A-9A58-E015D277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8AA3D-B0A6-437C-AFB7-BD85AB9A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39E4A-CD0D-4DB6-A93A-022156BD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8E3ED-BB65-4EF3-A701-0C99547A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226B6-7CA7-4228-A0FC-AE80F2D4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Local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70C2A-383C-4051-A030-0CD03FB2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Independent signals converge into one explainable intervention.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8FF95-5E1C-4744-8472-1584322D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9715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A51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21EAF-80CC-43C1-B775-1D6B548D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527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7F6AB-C21F-468D-A4D9-E25DB47B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24125"/>
            <a:ext cx="671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Audio file  ·  Microphone capture  ·  Transcript 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20F72-7ED3-455E-BA07-11D7E948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908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E7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61256-506E-47D1-8FB8-2E85130E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9715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2E39"/>
          </a:solidFill>
          <a:ln xmlns:a="http://schemas.openxmlformats.org/drawingml/2006/main" w="9525">
            <a:solidFill>
              <a:srgbClr val="2A51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343D4-CAD6-44EF-BBBC-510A3C48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LOCAL INFERENCE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FB5F5-A495-4728-B1A5-9CBFD454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81375"/>
            <a:ext cx="671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whisper.cpp ASR  ·  Security-term normalization  ·  Acoustic anomaly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F06EB-8F9A-442C-913A-A03B38B4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4810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E7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40B2D-2AAF-40F0-BC99-0D452B11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715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03E"/>
          </a:solidFill>
          <a:ln xmlns:a="http://schemas.openxmlformats.org/drawingml/2006/main" w="9525">
            <a:solidFill>
              <a:srgbClr val="2A51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3B719-62F1-46C7-A638-FE5AF304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672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CONVERSATION 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42BA0-530B-4AD0-A2C8-6ED5175F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38625"/>
            <a:ext cx="671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Tactic detector  ·  Language baseline  ·  Attack progression  ·  STDM-1 shadow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D1853-0C44-44D7-A0BA-CFCC5744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7053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E7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3A1C7-2BD6-40AF-8BC7-20FE57D3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715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A38"/>
          </a:solidFill>
          <a:ln xmlns:a="http://schemas.openxmlformats.org/drawingml/2006/main" w="9525">
            <a:solidFill>
              <a:srgbClr val="2A51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3A63DB-2BEA-4974-B929-1908FB4F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INTERVENTION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4BD930-7776-403A-A2CD-449C0E0C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95875"/>
            <a:ext cx="671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Threat score  ·  Timeline  ·  Evidence  ·  Recommended action  ·  Local incident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D371EF-C01F-4E64-A49F-D133E25B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81025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Fail-safe design: if voice analysis fails, scam-language and behavior analysis continue.</a:t>
            </a:r>
          </a:p>
        </p:txBody>
      </p:sp>
    </p:spTree>
    <p:extLst>
      <p:ext uri="{BB962C8B-B14F-4D97-AF65-F5344CB8AC3E}">
        <p14:creationId xmlns:p14="http://schemas.microsoft.com/office/powerpoint/2010/main" val="17123299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7D3C1-57FE-446D-B2B3-43E0BAFC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TECHNICAL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C4F41-127B-485D-9C9D-010779AF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21EE5-D24D-44FF-B6B3-F8601B2E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2BF49-E741-4500-A72A-D4FA2FAD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486B0-CE5B-4C6A-826F-D653EB98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Behavior-first 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37E87-3F61-47AB-8E20-53264C4D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Voice authenticity can add context. The conversation drives the safety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4162F-A500-4CCF-BF10-BA99A53E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CADD1-A9C4-44FC-BD52-BDD795EE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33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Tactics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B55E0-A1B3-4190-9E8B-66340999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4175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Direct phrase evidence for authority claims, threats, urgency, isolation, credentials, payments and remote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C6AD3-3F10-406A-856A-1737696D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190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45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5A900-B889-4800-A81D-37B7F9E9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4F091-2E8C-41EC-9DAD-42077BF8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33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Progression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8B0C7-EAE2-4CAF-BA8A-C4FAA575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24175"/>
            <a:ext cx="342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Accumulates timestamps and repeated tactics. A scam can branch and escalate without following one fixed script.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B5CD0-8205-4F73-B26C-F5969EB3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4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2F7A2-EF06-49B0-A2D8-7C9D3C83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7569E-DF09-43B4-A7C9-CAAC3BE3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577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Evidence fusion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62E62-A783-4831-9726-9672256F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347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57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 human scam script can reach HIGH or CRITICAL even when the voice signal is human or unavailable.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55D68-EF2D-477E-A1B3-4A89CB0D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38625"/>
            <a:ext cx="19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445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488B6-68EE-47C6-A15D-DFC75380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863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7A3B1-A868-4B2A-A51F-EAEB7525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577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Uncertainty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4FC0F-5F63-4396-B671-31EE2246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48250"/>
            <a:ext cx="347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57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Conflicting or insufficient evidence stays VERIFY. The tool recommends independent verification, not a legal conclusion.</a:t>
            </a:r>
          </a:p>
        </p:txBody>
      </p:sp>
    </p:spTree>
    <p:extLst>
      <p:ext uri="{BB962C8B-B14F-4D97-AF65-F5344CB8AC3E}">
        <p14:creationId xmlns:p14="http://schemas.microsoft.com/office/powerpoint/2010/main" val="947758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1D8CEA-66F5-485D-934E-465E4C00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DECISION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C5512-3F65-4CF5-BC23-A1FDEE90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6E5CB-7ED3-4536-9543-CF9C4B4C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3047F-94B7-4A2A-9652-7EC5BFD1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FE55F-26F9-49E1-A7C8-DE3CDA60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STDM-1 and calibrated uncertainty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4589A-2828-478D-B429-009B9FB9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 bounded model measures decision state. It does not create artificial certainty.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B7A75-AB12-4EA4-8354-2495487F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STATE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39721-9CA1-49B6-ADBE-839AD18E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8CC0E-16EA-4728-A6AB-4D214D91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904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1E10A-89E3-4DDA-B60C-0D93D28C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NORMAL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7F654-E98C-4B81-AF37-93EC6714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5ACEC-375E-4945-A89C-58CB1645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52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D0E53-8A97-4CFD-A817-F873E2A6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SUSPICIOUS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B7753-6146-46A5-88EB-D0860447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7162C-38C6-4067-95D9-8C682593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857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38515-4414-45A1-A80C-F0B4194C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IMPERSONATION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A7A63-1DF8-4B76-912E-2347C56B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2F171-4269-4023-A78E-5A73F80F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5F1DCC-6329-4D07-99BC-6D1340BB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MANIPULATION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1F10E-08EE-4C58-90E1-8E187A31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436909-E99E-44B0-A6BF-2BF699D9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2619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6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247673-D978-4825-972E-AFD6D9E5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CREDENTIAL EXTRACTION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21BB5-51DD-4F0C-9299-CC390764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4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B9979A-9299-47AC-816D-335401C0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6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AEF20F-AA47-4867-B1D7-9A95A1AD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FINANCIAL EXTRACTION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A9187B-2665-4896-8D67-E062253C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76500"/>
            <a:ext cx="3409950" cy="25908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3056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47C0E5-6D9A-46E8-8973-E491D466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CURRENT DEPLOYMENT 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FECD3B-29C1-48E0-9EE4-C36DC933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7182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SHADOW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EF29CD-B253-41EA-886C-AD3C93A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81425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97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STDM-1 returns a state distribution and uncertainty, but it cannot alter alerts until independent real-call validation passes.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2781FF-4E11-4042-A1DA-57534A17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18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Development check: 66.67% state accuracy  ·  ECE 0.09708</a:t>
            </a:r>
          </a:p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Synthetic contrast data only.</a:t>
            </a:r>
          </a:p>
        </p:txBody>
      </p:sp>
    </p:spTree>
    <p:extLst>
      <p:ext uri="{BB962C8B-B14F-4D97-AF65-F5344CB8AC3E}">
        <p14:creationId xmlns:p14="http://schemas.microsoft.com/office/powerpoint/2010/main" val="8696523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439DD6-F773-4CB5-B462-5ACE954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FEASIBILITY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FE16F-7079-4945-97D6-07461F9C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B08D3-3367-4AE4-AC0F-6402ACB5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2E4C2-6AA2-444B-86E1-0D770DCB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F761A-1DDB-4397-B4B2-BFFC1211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Measured local performance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4BCB7-A163-412E-8E9A-FA1D9916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The prototype runs offline after one-time model setup.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19318-9807-4AE6-9A18-08E18E66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2047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80D26-416B-46FC-98A9-C8654555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047"/>
          </a:bodyPr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0.85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835B0-066A-477C-9AD8-4A5E32EB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052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mean text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6E715-CFF1-4B27-AEB4-DB424E3E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67000"/>
            <a:ext cx="2047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769AA-12B2-48F2-9BD8-9598F6A5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047"/>
          </a:bodyPr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1.08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47A6E-7193-4D96-9856-4E2079F5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052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mean local Whisper ASR</a:t>
            </a:r>
          </a:p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on a 10.5 s validation clip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65D8F-D520-43CE-BE94-236AFEF0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2047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5A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84D0E-B6DD-4ED5-B47E-529F6927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480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047"/>
          </a:bodyPr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D814C-0F3A-4F68-9B98-FC6F0516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052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automated tests passed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36BFF-8C01-4A3D-80B9-387ED257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67000"/>
            <a:ext cx="2047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5A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DFE60-F214-401F-8F5F-2A93C39B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480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047"/>
          </a:bodyPr>
          <a:lstStyle xmlns:a="http://schemas.openxmlformats.org/drawingml/2006/main"/>
          <a:p xmlns:a="http://schemas.openxmlformats.org/drawingml/2006/main">
            <a:pPr>
              <a:defRPr sz="32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20 / 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CC359-E593-4D1B-A22A-9DB5F546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052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841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curated multilingual regression</a:t>
            </a:r>
          </a:p>
          <a:p xmlns:a="http://schemas.openxmlformats.org/drawingml/2006/main">
            <a:pPr>
              <a:def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suite passed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D12EF-ABF6-46AF-AA7F-297DB027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F550E-EE9A-439C-BC98-2333AB52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Offline 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63DB0-BA9A-4AB1-A853-8EB7D479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Local whisper.cpp model, local JSON classifiers, local evidence fusion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D9224-5360-4ED5-8760-48508B49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911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Privacy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F3655-3B8D-46C6-9FB9-E0035A82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43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Cloud API calls: NONE</a:t>
            </a:r>
          </a:p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Transcript persistence: OFF by default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1557E5-CA62-4A6E-905D-32475236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Safety fallback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DF0D93-3B85-4459-BD16-EBE4F464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43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Voice-auth failure never stops scam-language and behavior analysis</a:t>
            </a:r>
          </a:p>
        </p:txBody>
      </p:sp>
    </p:spTree>
    <p:extLst>
      <p:ext uri="{BB962C8B-B14F-4D97-AF65-F5344CB8AC3E}">
        <p14:creationId xmlns:p14="http://schemas.microsoft.com/office/powerpoint/2010/main" val="3953933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2A3732-A39C-45A1-8FF9-E1DD0879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8A92E-8863-4185-9304-1FFFA685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13BCC-67E2-4B0C-AF53-218C7606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4B096-118D-4CDF-92B1-EDF522EB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BBD65-C28D-49CC-98DC-398B6C89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A 90-second judge demonstration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E0F6A-63D8-45F6-B35D-0FBF2BFE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Show the decision boundary before showing any implementation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7CB21-2C59-4E95-9560-1EC7CC87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F909D-B8FE-4FA8-AA7F-8A0E497C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670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16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F718C-31AA-4681-9128-69ECAE20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57450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Safe human 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52A92-6892-4A8E-9088-56BF5C3C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9D277-FEFD-47BA-BEDF-61D46FE6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C27DA-7B58-4B60-A2C3-1659728D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16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49C48-99F8-4518-9351-8CC4C317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6707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Synthetic voice, safe 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CD737-1C69-40E6-AFA9-9961AF67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670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FD833-36AA-40C0-AF38-09ABA44F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18CC7-B5DA-4AE7-AC2A-897AA803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8625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16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98F85-5D8D-4B83-906D-916134A4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76700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Digital-arrest scam in segments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91DD3-30BF-4172-934C-FEA57CD3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76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6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626C"/>
                </a:solidFill>
                <a:latin typeface="Helvetica Neue"/>
                <a:ea typeface="Helvetica Neue"/>
                <a:cs typeface="Helvetica Neue"/>
              </a:rPr>
              <a:t>VERIFY → HIGH → CRITICAL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108EB-2D28-4893-B505-08134E36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84FDFE-42BB-4BC8-9656-2FE1508C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95875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16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2120C-5457-413A-9FD1-85C3FFFC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86325"/>
            <a:ext cx="3571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Tamil or Hinglish scam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66FE7-A141-4050-AD8F-4105852E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863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C857"/>
                </a:solidFill>
                <a:latin typeface="Helvetica Neue"/>
                <a:ea typeface="Helvetica Neue"/>
                <a:cs typeface="Helvetica Neue"/>
              </a:rPr>
              <a:t>HIGH / CRITICAL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386971-8D2E-4EF2-9FDE-0CDFAA90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81075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0F2B3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160ACA-DCBB-49A9-810B-8E885D59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6740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667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Judges see a decision rationale: authority claim, legal threat, isolation attempt, payment request.</a:t>
            </a:r>
          </a:p>
        </p:txBody>
      </p:sp>
    </p:spTree>
    <p:extLst>
      <p:ext uri="{BB962C8B-B14F-4D97-AF65-F5344CB8AC3E}">
        <p14:creationId xmlns:p14="http://schemas.microsoft.com/office/powerpoint/2010/main" val="17274259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F51533-ABAA-4EA7-A558-05CBC086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TECH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D396F-4BC2-4837-B0C3-55163433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0D5F4-0472-4EF9-8826-B0B8B5A3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842C5-5470-4F25-A37D-B9B067B5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2B9E4-ED98-47DA-BB7B-E5C12B3D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Practical technology choices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631A0-F03B-462B-8C7C-FBB0A36E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Small, local components reduce demo risk and make the system explainable.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B5D5F-5C42-4779-9F6E-250A1443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E38DA-9982-4D6A-A561-3C001348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LOCAL SPEECH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C169D-4C0E-420D-9714-E8DE7309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whisper.cpp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multilingual base model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ffmpeg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8B4D8-1CB7-4497-BC30-27BE9A52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F9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D6DBD-60FC-44D2-97C9-118D3A57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9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SECURITY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3665E-6E09-4A66-9269-3D5DD8D9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Python 3.11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rule taxonomy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attack progression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fusion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17FBA-E0ED-47AB-88EE-D4893C95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694A8-CC4D-4E48-B931-9235052E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9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DECISION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BDE93-55D9-4641-9B83-762E1843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JSON Multinomial NB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ASR-noise augmentation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STDM-1 shadow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5DAE0-6714-4AE9-9D92-EB32A98A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D5A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1E7E0-B201-4686-9DFF-119FECC8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9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5E0ABD-B977-40DF-B91F-53D99456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86125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Local HTTP service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browser microphone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incident report</a:t>
            </a:r>
          </a:p>
          <a:p xmlns:a="http://schemas.openxmlformats.org/drawingml/2006/main">
            <a:pPr>
              <a:def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pytest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89C1A-6C06-47DB-A373-FF259F94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4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84A6A-8337-4BAB-8DF1-F0234C32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Why this stack is feasible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5698E-DAB9-4650-B106-6BC20E32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81625"/>
            <a:ext cx="671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No cloud LLM dependency. Safe JSON artifacts. Graceful degradation when ASR or voice analysis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17293937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06B7E-78D2-4EF5-84F2-37C74B98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8F87A-5360-4645-BF16-DF3810B1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BEF2E-01C7-45DD-B0E8-C69E5417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F76ED-CEF5-49AC-84C0-074CEA9A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EDABC-95D3-42E7-B76F-E0C9A0B6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The intervention protects the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BBE50-A02B-4B6A-B26F-2BF7C5C7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A clear pause can prevent irreversible action.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57f72cf694620"/>
          <a:srcRect xmlns:a="http://schemas.openxmlformats.org/drawingml/2006/main" l="10735" t="0" r="10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057400"/>
            <a:ext cx="571500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4764B-6AE8-4B7D-BFF2-50E05359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057400"/>
            <a:ext cx="6105525" cy="4095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31F">
                  <a:alpha val="65882"/>
                </a:srgbClr>
              </a:gs>
              <a:gs pos="22000">
                <a:srgbClr val="07131F">
                  <a:alpha val="100000"/>
                </a:srgbClr>
              </a:gs>
              <a:gs pos="100000">
                <a:srgbClr val="07131F">
                  <a:alpha val="10000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4943A-BA8B-4B4F-87B3-6DAB983C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People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D2403-D962-4EC4-AAD0-5B9FEB9D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1467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964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A plain-language warning gives families time to stop, verify and ask for help.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017C5-EA96-4753-A168-142C4501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Institutions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0AF2C-D5E4-4225-B7B4-9CAB26F8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48175"/>
            <a:ext cx="3733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28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Explainable evidence helps banks, telecom teams and cyber volunteers guide users without making accusations.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1BB6B-319E-4809-AB36-6FFA2780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81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Inclusion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454C0-6FF9-4A15-ADC7-089E91E3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816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902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English, Tamil, Hindi and Hinglish support creates a path beyond English-only security tooling.</a:t>
            </a:r>
          </a:p>
        </p:txBody>
      </p:sp>
    </p:spTree>
    <p:extLst>
      <p:ext uri="{BB962C8B-B14F-4D97-AF65-F5344CB8AC3E}">
        <p14:creationId xmlns:p14="http://schemas.microsoft.com/office/powerpoint/2010/main" val="12418290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07603-3A94-4803-9A9D-F79F2C33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4179D-ADC9-4C2A-A4B3-F10D9688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E031C-533E-4902-AFB4-6BD77CBF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47F35-3ABB-441B-84A4-52573795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D7640-8913-4421-A876-2B7EC524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440"/>
          </a:bodyPr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SCAMTRACE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93DD5-2C47-4EB9-BB2C-B843742B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191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Detect the manipulation.</a:t>
            </a:r>
          </a:p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Explain the attack.</a:t>
            </a:r>
          </a:p>
          <a:p xmlns:a="http://schemas.openxmlformats.org/drawingml/2006/main">
            <a:pPr>
              <a:def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Protect the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D15D1-71F0-481A-A3A5-15FE79A6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06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BDEEA-5D18-4D5D-9B9D-FE771499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DBE6E8"/>
                </a:solidFill>
                <a:latin typeface="Helvetica Neue"/>
                <a:ea typeface="Helvetica Neue"/>
                <a:cs typeface="Helvetica Neue"/>
              </a:rPr>
              <a:t>A local conversational security layer designed for the moment a person needs to pause.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CAD44-4DAF-4A33-9ECD-07A6DB26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3048000" cy="3048000"/>
          </a:xfrm>
          <a:prstGeom xmlns:a="http://schemas.openxmlformats.org/drawingml/2006/main" prst="roundRect">
            <a:avLst>
              <a:gd name="adj" fmla="val 6875"/>
            </a:avLst>
          </a:prstGeom>
          <a:solidFill xmlns:a="http://schemas.openxmlformats.org/drawingml/2006/main">
            <a:srgbClr val="102C3E"/>
          </a:solidFill>
          <a:ln xmlns:a="http://schemas.openxmlformats.org/drawingml/2006/main" w="9525">
            <a:solidFill>
              <a:srgbClr val="2D59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84028-BBB9-4951-A41F-0A21F14B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62BF5-EA58-496E-AEF0-44049B3E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19375"/>
            <a:ext cx="2238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1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Human scam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Threat progression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Explainable intervention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4FB81-C4A0-481B-B644-59D17668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5D5A2"/>
                </a:solidFill>
                <a:latin typeface="Helvetica Neue"/>
                <a:ea typeface="Helvetica Neue"/>
                <a:cs typeface="Helvetica Neue"/>
              </a:rPr>
              <a:t>Ready locally at 127.0.0.1:8765</a:t>
            </a:r>
          </a:p>
        </p:txBody>
      </p:sp>
    </p:spTree>
    <p:extLst>
      <p:ext uri="{BB962C8B-B14F-4D97-AF65-F5344CB8AC3E}">
        <p14:creationId xmlns:p14="http://schemas.microsoft.com/office/powerpoint/2010/main" val="5432079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A33606-70F0-412D-9EF5-4AA7E0C8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4E2CF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D3F2F-1995-47D0-A2C7-12F25E65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FFA9A-03E2-41FD-927D-5B8A5D26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SCAMTRACE   / 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B095A-2205-4F6B-91E5-C2DE6C55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457950"/>
            <a:ext cx="2581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CodeGyaan’26  ·  Cybersecurity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6E5F6-3119-4670-8289-5A174543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66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Research and reference 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D3FF2-8C19-42B7-97DC-1D7D53A2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Primary public sources and model-development references.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CFDB1-D883-4C97-BF47-03EC01E0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47347-F83E-4376-BC04-9533282B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A27FD-93B9-44E3-B7FE-4DD33EEC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33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Ministry of Home Affairs, Rajya Sabha USQ 1341, 11 Feb 2026. Cybercrime Reporting and Investigation.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E7905-FF94-4CAC-A783-7386A663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28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2575D-0B47-46FD-BDF5-B84A3546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718BF-520D-4398-90CB-D83CD635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908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MHA / PIB, 14 May 2024. Advisory on digital-arrest fraud.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E53C9-DA27-4487-B54C-EBC2A7EF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10275-0240-4529-A1AD-4B2EE9F9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AB114-D504-415D-8188-7DC6851D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480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PMO / PIB, 27 Oct 2024. Mann Ki Baat warning: no system of digital arrest.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C9ED0-E078-451E-83D6-DABD594A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933F3-14DB-4421-9C9D-CDAB4A7E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D5FC51-8ED9-4CEA-9F2F-45F70A1D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052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Rajya Sabha Standing Committee, Report 254, 20 Aug 2025. Cyber-financial crime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A531D-EF0F-4610-BE0C-ED4A5463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2C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D2C35-0378-4B7A-949B-3B096C63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7A7ED-CAD9-4C42-A3D3-592127DB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624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CERT-In CIAD-2024-0060, 27 Nov 2024. Deepfake risks include synthetic audio and social engineering.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2791E0-5C83-4FDB-9D2D-CEBCFA8E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BEA6B-E3FE-4F17-BA13-5182E655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D9441D-FFA7-4AE1-95E0-1A8AB39E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9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Radford et al., 2022. Robust Speech Recognition via Large-Scale Weak Supervision.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570DA-A3F0-4320-A109-966BC0DE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A4D6BD-7A98-49F8-86D1-A04B489F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07131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0D2E0E-0A0E-4EEB-84ED-BD9A6BB9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768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7FAFB"/>
                </a:solidFill>
                <a:latin typeface="Helvetica Neue"/>
                <a:ea typeface="Helvetica Neue"/>
                <a:cs typeface="Helvetica Neue"/>
              </a:rPr>
              <a:t>Yamagishi et al., 2021. ASVspoof 2021: deepfake speech detection evaluation.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9ACC66-30A4-46FA-B634-A228EE4A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8BA5AF"/>
                </a:solidFill>
                <a:latin typeface="Helvetica Neue"/>
                <a:ea typeface="Helvetica Neue"/>
                <a:cs typeface="Helvetica Neue"/>
              </a:rPr>
              <a:t>Direct links and source notes appear in the speaker notes. SCAMTRACE performance claims refer only to its recorded local reports.</a:t>
            </a:r>
          </a:p>
        </p:txBody>
      </p:sp>
    </p:spTree>
    <p:extLst>
      <p:ext uri="{BB962C8B-B14F-4D97-AF65-F5344CB8AC3E}">
        <p14:creationId xmlns:p14="http://schemas.microsoft.com/office/powerpoint/2010/main" val="77839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2026-09-21T19:02:32.8470000Z</dcterms:created>
  <dcterms:modified xsi:type="dcterms:W3CDTF">2026-09-21T19:02:32.8470000Z</dcterms:modified>
</coreProperties>
</file>