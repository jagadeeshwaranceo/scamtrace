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b99e455cc44ecb" /><Relationship Type="http://schemas.openxmlformats.org/officeDocument/2006/relationships/extended-properties" Target="/docProps/app.xml" Id="R9a0c1c78ba934b59" /><Relationship Type="http://schemas.openxmlformats.org/officeDocument/2006/relationships/officeDocument" Target="/ppt/presentation.xml" Id="R4969289c9c4f45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118e9150d346dd"/>
  </p:sldMasterIdLst>
  <p:notesMasterIdLst>
    <p:notesMasterId xmlns:r="http://schemas.openxmlformats.org/officeDocument/2006/relationships" r:id="R09ba2f18fa264207"/>
  </p:notesMasterIdLst>
  <p:sldIdLst>
    <p:sldId xmlns:r="http://schemas.openxmlformats.org/officeDocument/2006/relationships" id="256" r:id="Rf26fee5334c04110"/>
    <p:sldId xmlns:r="http://schemas.openxmlformats.org/officeDocument/2006/relationships" id="257" r:id="Rfeb979cc40014ede"/>
    <p:sldId xmlns:r="http://schemas.openxmlformats.org/officeDocument/2006/relationships" id="258" r:id="R5fe4fccd638f4e8e"/>
    <p:sldId xmlns:r="http://schemas.openxmlformats.org/officeDocument/2006/relationships" id="259" r:id="Raa9f364c9b29440b"/>
    <p:sldId xmlns:r="http://schemas.openxmlformats.org/officeDocument/2006/relationships" id="260" r:id="R0de9a96cf0bb4269"/>
    <p:sldId xmlns:r="http://schemas.openxmlformats.org/officeDocument/2006/relationships" id="261" r:id="R92748b79ff974b1a"/>
    <p:sldId xmlns:r="http://schemas.openxmlformats.org/officeDocument/2006/relationships" id="262" r:id="R4b96504876c4451e"/>
    <p:sldId xmlns:r="http://schemas.openxmlformats.org/officeDocument/2006/relationships" id="263" r:id="R32833525c0894c31"/>
    <p:sldId xmlns:r="http://schemas.openxmlformats.org/officeDocument/2006/relationships" id="264" r:id="R024648ccc30b4b94"/>
    <p:sldId xmlns:r="http://schemas.openxmlformats.org/officeDocument/2006/relationships" id="265" r:id="Rd8d24b1ad50b49d9"/>
    <p:sldId xmlns:r="http://schemas.openxmlformats.org/officeDocument/2006/relationships" id="266" r:id="R2eb81303673045c4"/>
    <p:sldId xmlns:r="http://schemas.openxmlformats.org/officeDocument/2006/relationships" id="267" r:id="R510c6f5e776542c9"/>
    <p:sldId xmlns:r="http://schemas.openxmlformats.org/officeDocument/2006/relationships" id="268" r:id="R558751dc1c454e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fde826eab146fe" /><Relationship Type="http://schemas.openxmlformats.org/officeDocument/2006/relationships/slideMaster" Target="/ppt/slideMasters/slideMaster1.xml" Id="Rbd118e9150d346dd" /><Relationship Type="http://schemas.openxmlformats.org/officeDocument/2006/relationships/notesMaster" Target="/ppt/notesMasters/notesMaster1.xml" Id="R09ba2f18fa264207" /><Relationship Type="http://schemas.openxmlformats.org/officeDocument/2006/relationships/presProps" Target="/ppt/presProps.xml" Id="Rca6aa0b7bb244cb6" /><Relationship Type="http://schemas.openxmlformats.org/officeDocument/2006/relationships/tableStyles" Target="/ppt/tableStyles.xml" Id="R137dd1a30fe24c99" /><Relationship Type="http://schemas.openxmlformats.org/officeDocument/2006/relationships/slide" Target="/ppt/slides/slide1.xml" Id="Rf26fee5334c04110" /><Relationship Type="http://schemas.openxmlformats.org/officeDocument/2006/relationships/slide" Target="/ppt/slides/slide2.xml" Id="Rfeb979cc40014ede" /><Relationship Type="http://schemas.openxmlformats.org/officeDocument/2006/relationships/slide" Target="/ppt/slides/slide3.xml" Id="R5fe4fccd638f4e8e" /><Relationship Type="http://schemas.openxmlformats.org/officeDocument/2006/relationships/slide" Target="/ppt/slides/slide4.xml" Id="Raa9f364c9b29440b" /><Relationship Type="http://schemas.openxmlformats.org/officeDocument/2006/relationships/slide" Target="/ppt/slides/slide5.xml" Id="R0de9a96cf0bb4269" /><Relationship Type="http://schemas.openxmlformats.org/officeDocument/2006/relationships/slide" Target="/ppt/slides/slide6.xml" Id="R92748b79ff974b1a" /><Relationship Type="http://schemas.openxmlformats.org/officeDocument/2006/relationships/slide" Target="/ppt/slides/slide7.xml" Id="R4b96504876c4451e" /><Relationship Type="http://schemas.openxmlformats.org/officeDocument/2006/relationships/slide" Target="/ppt/slides/slide8.xml" Id="R32833525c0894c31" /><Relationship Type="http://schemas.openxmlformats.org/officeDocument/2006/relationships/slide" Target="/ppt/slides/slide9.xml" Id="R024648ccc30b4b94" /><Relationship Type="http://schemas.openxmlformats.org/officeDocument/2006/relationships/slide" Target="/ppt/slides/slide10.xml" Id="Rd8d24b1ad50b49d9" /><Relationship Type="http://schemas.openxmlformats.org/officeDocument/2006/relationships/slide" Target="/ppt/slides/slide11.xml" Id="R2eb81303673045c4" /><Relationship Type="http://schemas.openxmlformats.org/officeDocument/2006/relationships/slide" Target="/ppt/slides/slide12.xml" Id="R510c6f5e776542c9" /><Relationship Type="http://schemas.openxmlformats.org/officeDocument/2006/relationships/slide" Target="/ppt/slides/slide13.xml" Id="R558751dc1c454e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768471433949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81857fd9c844ae" /><Relationship Type="http://schemas.openxmlformats.org/officeDocument/2006/relationships/notesMaster" Target="/ppt/notesMasters/notesMaster1.xml" Id="Rdb7bb0512f744a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9533f2b70b4bda" /><Relationship Type="http://schemas.openxmlformats.org/officeDocument/2006/relationships/notesMaster" Target="/ppt/notesMasters/notesMaster1.xml" Id="Rb3e1d13ae7ed45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76a59cfab74522" /><Relationship Type="http://schemas.openxmlformats.org/officeDocument/2006/relationships/notesMaster" Target="/ppt/notesMasters/notesMaster1.xml" Id="R7809bb65188847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4360ba40714581" /><Relationship Type="http://schemas.openxmlformats.org/officeDocument/2006/relationships/notesMaster" Target="/ppt/notesMasters/notesMaster1.xml" Id="R76aa209ff4d244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c55a8bcef94be8" /><Relationship Type="http://schemas.openxmlformats.org/officeDocument/2006/relationships/notesMaster" Target="/ppt/notesMasters/notesMaster1.xml" Id="Rb75f253f46ac46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b26897d868466c" /><Relationship Type="http://schemas.openxmlformats.org/officeDocument/2006/relationships/notesMaster" Target="/ppt/notesMasters/notesMaster1.xml" Id="R8cff1f0acfb046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d637da7c184c87" /><Relationship Type="http://schemas.openxmlformats.org/officeDocument/2006/relationships/notesMaster" Target="/ppt/notesMasters/notesMaster1.xml" Id="R0ef8990fdfe149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bbe28eee8f411f" /><Relationship Type="http://schemas.openxmlformats.org/officeDocument/2006/relationships/notesMaster" Target="/ppt/notesMasters/notesMaster1.xml" Id="Rd612a678d07d47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3375758c524641" /><Relationship Type="http://schemas.openxmlformats.org/officeDocument/2006/relationships/notesMaster" Target="/ppt/notesMasters/notesMaster1.xml" Id="R635ea18b453148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f799a39acc4910" /><Relationship Type="http://schemas.openxmlformats.org/officeDocument/2006/relationships/notesMaster" Target="/ppt/notesMasters/notesMaster1.xml" Id="Rc73eb354a9a140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c75f6deee94d7c" /><Relationship Type="http://schemas.openxmlformats.org/officeDocument/2006/relationships/notesMaster" Target="/ppt/notesMasters/notesMaster1.xml" Id="R4d9a003f29b642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7fe654f23b4290" /><Relationship Type="http://schemas.openxmlformats.org/officeDocument/2006/relationships/notesMaster" Target="/ppt/notesMasters/notesMaster1.xml" Id="Ra9677108303742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a8d72b82b0449d" /><Relationship Type="http://schemas.openxmlformats.org/officeDocument/2006/relationships/notesMaster" Target="/ppt/notesMasters/notesMaster1.xml" Id="R9f5bca86cb564b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image: generated concept art for SCAMTRACE. Present the project in one sentence: a local system that spots social-engineering behavior as a conversation unfolds.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Ministry of Home Affairs, Rajya Sabha USQ 1341, 11 Feb 2026, https://sansad.in/getFile/annex/270/AU1341_tmaxdx.pdf?source=pqars</a:t>
            </a:r>
          </a:p>
          <a:p xmlns:a="http://schemas.openxmlformats.org/drawingml/2006/main">
            <a:r>
              <a:t>MHA/PIB advisory on digital-arrest fraud, 14 May 2024, https://www.pib.gov.in/Pressreleaseshare.aspx?PRID=2020570&amp;lang=2&amp;reg=48</a:t>
            </a:r>
          </a:p>
          <a:p xmlns:a="http://schemas.openxmlformats.org/drawingml/2006/main">
            <a:r>
              <a:t>Use precise wording: ₹22,495 crore is the amount reported by citizens, not a confirmed-loss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definition: SCAMTRACE is a decision-support layer. It does not accuse a caller of a crime and does not depend on a deepfake signal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Motion cue: this slide uses a fade transition. Reveal the four points in sequence while speaking. Measured local real-time scenario: VERIFY 28 at 8s, HIGH 47 at 18s, HIGH 60 at 27s, CRITICAL 100 at 38s.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is editable native PowerPoint content. Key implementation detail: realtime sessions are bounded in local memory and are explicitly closed after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hard contrast example: ‘Never share your OTP’ differs from ‘Share the OTP with me.’ The engine preserves this behavioral distinction.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STDM-1 as production-ready. Explain that a calibrated decision requires consented, multilingual, speaker-disjoint real-call data. Current shadow mode is deliberate risk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locally in this workspace. Full SCAMTRACE regression suite is curated and must not be presented as independent real-world accuracy. Benchmark reports: reports/performance.json and reports/evaluation.json.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scripts/realtime_demo.py --scenario human_digital_arrest. Use the real local browser for the audio-upload or text scenario. Keep Wi-Fi disabled after setup to demonstrate offline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components are currently present in the repository. The project runs with ./run.sh after local model setup.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visual: generated concept art, not a real photograph. Reference: PMO/PIB, 27 Oct 2024, states there is no legal system of ‘digital arrest’ and recommends Stop–Think–Take Action and reporting through 1930/cybercrime.gov.in: https://www.pib.gov.in/PressReleasePage.aspx?PRID=2068606&amp;lang=2&amp;reg=48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Motion cue: fade into this closing slide after the live demo. End with the tagline, then invite judges to try the real-time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sources:</a:t>
            </a:r>
          </a:p>
          <a:p xmlns:a="http://schemas.openxmlformats.org/drawingml/2006/main">
            <a:r>
              <a:t>1. https://sansad.in/getFile/annex/270/AU1341_tmaxdx.pdf?source=pqars</a:t>
            </a:r>
          </a:p>
          <a:p xmlns:a="http://schemas.openxmlformats.org/drawingml/2006/main">
            <a:r>
              <a:t>2. https://www.pib.gov.in/Pressreleaseshare.aspx?PRID=2020570&amp;lang=2&amp;reg=48</a:t>
            </a:r>
          </a:p>
          <a:p xmlns:a="http://schemas.openxmlformats.org/drawingml/2006/main">
            <a:r>
              <a:t>3. https://www.pib.gov.in/PressReleasePage.aspx?PRID=2068606&amp;lang=2&amp;reg=48</a:t>
            </a:r>
          </a:p>
          <a:p xmlns:a="http://schemas.openxmlformats.org/drawingml/2006/main">
            <a:r>
              <a:t>4. https://sansad.in/getFile/rsnew/Committee_site/Committee_File/ReportFile/15/197/254_2025_8_12.pdf?source=rajyasabha</a:t>
            </a:r>
          </a:p>
          <a:p xmlns:a="http://schemas.openxmlformats.org/drawingml/2006/main">
            <a:r>
              <a:t>5. https://www.cert-in.org.in/s2cMainServlet?VLCODE=CIAD-2024-0060&amp;pageid=PUBVLNOTES02</a:t>
            </a:r>
          </a:p>
          <a:p xmlns:a="http://schemas.openxmlformats.org/drawingml/2006/main">
            <a:r>
              <a:t>6. https://cdn.openai.com/papers/whisper.pdf</a:t>
            </a:r>
          </a:p>
          <a:p xmlns:a="http://schemas.openxmlformats.org/drawingml/2006/main">
            <a:r>
              <a:t>7. https://doi.org/10.48550/arXiv.2109.00537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f60d9e4c5c4b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a3dd220a294314" /><Relationship Type="http://schemas.openxmlformats.org/officeDocument/2006/relationships/slideLayout" Target="/ppt/slideLayouts/slideLayout1.xml" Id="Rf6d0ecb781b149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d0ecb781b149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0d3c0e52d4485" /><Relationship Type="http://schemas.openxmlformats.org/officeDocument/2006/relationships/image" Target="/ppt/media/image.png" Id="R57162c642b2e4268" /><Relationship Type="http://schemas.openxmlformats.org/officeDocument/2006/relationships/notesSlide" Target="/ppt/notesSlides/notesSlide1.xml" Id="R981b3df07b3f45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785794f544f84" /><Relationship Type="http://schemas.openxmlformats.org/officeDocument/2006/relationships/notesSlide" Target="/ppt/notesSlides/notesSlide2.xml" Id="R0cc88374a6a64a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5a4e6e5924bc2" /><Relationship Type="http://schemas.openxmlformats.org/officeDocument/2006/relationships/notesSlide" Target="/ppt/notesSlides/notesSlide3.xml" Id="R8a1cc92feaa342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0f29e1bc94381" /><Relationship Type="http://schemas.openxmlformats.org/officeDocument/2006/relationships/notesSlide" Target="/ppt/notesSlides/notesSlide4.xml" Id="Rd84bc0cc7e7b4c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a5f51809b4003" /><Relationship Type="http://schemas.openxmlformats.org/officeDocument/2006/relationships/notesSlide" Target="/ppt/notesSlides/notesSlide5.xml" Id="R279979aed80f4d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78fe0bf1a467c" /><Relationship Type="http://schemas.openxmlformats.org/officeDocument/2006/relationships/notesSlide" Target="/ppt/notesSlides/notesSlide6.xml" Id="Rdd8074f4994741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f4fc8a5e744b2" /><Relationship Type="http://schemas.openxmlformats.org/officeDocument/2006/relationships/notesSlide" Target="/ppt/notesSlides/notesSlide7.xml" Id="R4688a12655ed4f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bd4378bbb41a9" /><Relationship Type="http://schemas.openxmlformats.org/officeDocument/2006/relationships/notesSlide" Target="/ppt/notesSlides/notesSlide8.xml" Id="Rfe9450ac596f42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8bc762be242a1" /><Relationship Type="http://schemas.openxmlformats.org/officeDocument/2006/relationships/notesSlide" Target="/ppt/notesSlides/notesSlide9.xml" Id="R8a59d91169d24f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1edcec0ae4c82" /><Relationship Type="http://schemas.openxmlformats.org/officeDocument/2006/relationships/notesSlide" Target="/ppt/notesSlides/notesSlide10.xml" Id="R11da77854e5047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460668b3a4e1f" /><Relationship Type="http://schemas.openxmlformats.org/officeDocument/2006/relationships/image" Target="/ppt/media/image2.png" Id="Rd60d6553750d4596" /><Relationship Type="http://schemas.openxmlformats.org/officeDocument/2006/relationships/notesSlide" Target="/ppt/notesSlides/notesSlide11.xml" Id="Rbe45f914579a42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8df9b893e4af0" /><Relationship Type="http://schemas.openxmlformats.org/officeDocument/2006/relationships/notesSlide" Target="/ppt/notesSlides/notesSlide12.xml" Id="Re4cbc769d08841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5eeb784ab469b" /><Relationship Type="http://schemas.openxmlformats.org/officeDocument/2006/relationships/notesSlide" Target="/ppt/notesSlides/notesSlide13.xml" Id="Reb56792ddb0342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62c642b2e42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52FDF-331F-4CC1-8F34-33D6D961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11D">
                  <a:alpha val="93333"/>
                </a:srgbClr>
              </a:gs>
              <a:gs pos="60000">
                <a:srgbClr val="06111D">
                  <a:alpha val="73333"/>
                </a:srgbClr>
              </a:gs>
              <a:gs pos="100000">
                <a:srgbClr val="06111D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5D34A-CD51-49F4-A01E-73BD5299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0C386-36FF-4B23-B12B-0994BA55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903"/>
          </a:bodyPr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SCAMTRACE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5DAAE-34BE-44B2-B728-640126B3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Conversational Attack Firewall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B6AB6-C066-4AAF-9C08-006EA6ED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Detect the manipulation.</a:t>
            </a:r>
          </a:p>
          <a:p xmlns:a="http://schemas.openxmlformats.org/drawingml/2006/main">
            <a:pPr>
              <a:def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Explain the attack.</a:t>
            </a:r>
          </a:p>
          <a:p xmlns:a="http://schemas.openxmlformats.org/drawingml/2006/main">
            <a:pPr>
              <a:def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Protect the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55B99-6994-4DC5-9869-2144F6F0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9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 privacy-preserving AI security layer for live conversations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A29EE-555B-4533-BDF8-3437F25F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  ·  AI for Inclusive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86218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153A1-D2E1-49EA-83D0-6A76EF93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A9C39-DC0B-4862-9285-FE861033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E0DFA-853B-420F-9D1E-D91C6323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DED54-80A8-40D6-B48A-9D46955F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10FCC-9CC6-4159-BFA0-96E35304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The scam happens inside the conversation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A6198-1715-41CA-8409-1AA5F520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Fraud relies on authority, fear, isolation and an irreversible request.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45945-8D03-474A-9583-6B01639C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66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24,02,579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F74FA-9066-4A64-A5DC-66B3DE60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97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financial cyber-fraud complaints received by NCRP in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12670-DD5A-40DF-8417-8AEF5767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45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D66B4-11C1-4F39-B727-AD1FFE0E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₹22,495 crore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C56C7-53D9-4A37-A02A-E44F3901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861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amount reported by citizens in those 2025 complaints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AFBC8-DBC0-461B-ABE9-E66A88DB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Digital-arrest fraud scripts impersonate police, CBI, RBI or customs. They invent a crime, force secrecy and demand money.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71D17-D2EA-4099-AEFE-F88B1608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38375"/>
            <a:ext cx="29527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C2B"/>
          </a:solidFill>
          <a:ln xmlns:a="http://schemas.openxmlformats.org/drawingml/2006/main" w="9525">
            <a:solidFill>
              <a:srgbClr val="2950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82EC3-4862-4833-B709-257D9712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THE DECISION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7AE2D-D4B4-4FF6-86E7-D07DA9BE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037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54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A victim has seconds to decide while the caller controls the story.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72118-FAC0-4F52-9993-B3F1C4A2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6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F6C2A-D489-47A3-932D-39D442C3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386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57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The intervention must work before payment or credential sharing.</a:t>
            </a:r>
          </a:p>
        </p:txBody>
      </p:sp>
    </p:spTree>
    <p:extLst>
      <p:ext uri="{BB962C8B-B14F-4D97-AF65-F5344CB8AC3E}">
        <p14:creationId xmlns:p14="http://schemas.microsoft.com/office/powerpoint/2010/main" val="1400604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6579A7-5AA1-481E-94D7-FF8FC145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0E922-F7CD-42FB-B42D-B27FC03B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95B44-21E5-40B7-9482-8B3BAE11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35BCC-A2F2-40BA-B22E-CA54F60E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D3E9F-2500-49BD-9DBB-2D03148F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A local security layer for live conversations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2BD85-9132-441C-82B1-CD0BD028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reads how a conversation behaves, then gives an explainable intervention.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29548-88FE-4A3C-91CF-74BC3E53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B52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D763B-E013-45B2-8AD1-21301B1F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099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667B3-00FE-4897-BEBA-F723422B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CONVERSATION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454B2-5394-4ED6-9880-9B1F992A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429125"/>
            <a:ext cx="146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Audio or text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English, Tamil, Hindi, Hinglish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162D6-08FB-4F74-84D7-C3DB4A7B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33375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607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5911A-5BA4-4DAC-9E95-E84BFED0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48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B52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C9C23-C0B1-4487-80A2-6529C0E8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099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1CA82-E210-4E21-BACD-443005DB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00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LOCAL ASR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930E3-D9EB-48E5-88AE-1435653A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429125"/>
            <a:ext cx="146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Timestamped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local transcript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092A7-9D48-44D5-874E-EC4CB76F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3375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607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60315-441E-4BDB-9098-D9C10CA8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B526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DECDA-C337-45B0-9252-D1835BDE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099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0930F-C4DA-41E7-ACA6-71A249AF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00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50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BEHAVIOR 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C338C-5EEA-46A3-94B6-747E03E9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429125"/>
            <a:ext cx="146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Authority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Threat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Isolation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Extraction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384D9-5986-4036-A199-CDD1135D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3375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607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669054-8E33-4F0C-A899-5F3395D8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48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B52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4F0F3A-8C3A-4E79-860C-795BE4BC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099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DFB12B-91F9-4838-8BED-B16E6FB8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00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THREAT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6D4F7E-98BF-45BA-8376-CF74792B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429125"/>
            <a:ext cx="146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Timeline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Uncertainty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6497F-DFC2-4DDB-82BE-331DDBD6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33375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928143-07D5-40CA-ACB9-5B7A5CC9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048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B68B5E-38D1-4BE7-BE66-3833C476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099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F7AF5D-BD8A-49A8-BFAA-47C3EC0C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00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SAFE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8B425A-C194-463B-A278-49C04E59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429125"/>
            <a:ext cx="146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Stop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Verify independently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Protect accounts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24691F-9A01-44A5-ABCC-47E2080A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Privacy boundary: audio processing, ASR and inference stay local. Cloud API calls: none.</a:t>
            </a:r>
          </a:p>
        </p:txBody>
      </p:sp>
    </p:spTree>
    <p:extLst>
      <p:ext uri="{BB962C8B-B14F-4D97-AF65-F5344CB8AC3E}">
        <p14:creationId xmlns:p14="http://schemas.microsoft.com/office/powerpoint/2010/main" val="12234719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769AE4-D65E-48AB-A72E-B19BC4E3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LIVE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0E04F-E5B1-41B5-86F9-112074A6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8CF31-189C-44FB-AC63-4055A1E5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87687-E22F-47E4-AD93-CE657127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17611-406D-4675-86EF-34564ED2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Threat escalation across a single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B13D8-9BA1-4512-B0BD-847AE78B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The score changes when the evidence changes. It is not a decorative confidence number.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BE9D6-A11D-4BA3-94F4-88C7F8D2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33750"/>
            <a:ext cx="885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0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5A6D9-398C-49EA-9318-6E956463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81764-BC93-4C79-81D8-5A4955E0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193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00:08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EEEB3-2F1D-40E0-A52D-251FE601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FC778-FE35-4129-8112-A2DD3E21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100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28 / 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54CB1-BCE6-4E5A-80BC-9A913425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Authority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2C05D-F2AB-45FD-BC54-1159BCFE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114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6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496DB-D012-41EC-BC9D-F1E771EE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193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00:18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A2E0D-1BA4-4919-BF78-84F81398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576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9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9A64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AC258-50A2-48C0-82C2-3F12DACA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100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47 / 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AC6AB-DB17-4665-AACA-D0A5D057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572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Crime allegation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49DF9-5446-49BE-B927-65EC168F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14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6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2DAED-274E-4274-8ACB-3F8316F2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193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00:27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0A7A0-7A01-4157-A702-73E87BB1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8576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9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9A64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907D8-E8A1-423C-9AF7-85D7AEC8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100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60 / 100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296BC-F5BF-4AF2-BE0A-2EFB31C0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72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Isolation attempt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0D7BE4-AA29-49DC-89B4-754FE096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14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6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3DCD9-458F-4F28-A745-02B3E3AF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193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00:38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706BD-6EAF-4991-ACBD-0911640E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576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6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626C"/>
                </a:solidFill>
                <a:latin typeface="Helvetica Neue"/>
                <a:ea typeface="Helvetica Neue"/>
                <a:cs typeface="Helvetica Neue"/>
              </a:rPr>
              <a:t>CRITICAL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B9B088-930D-491C-B31B-4522EB09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100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100 / 100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0ABCBF-DD43-4BA3-9552-68564F75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572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Payment request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AD9CD3-7742-435B-B35F-86ABF3C4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245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1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“Do not disconnect. Transfer money to the safe account immediately.”</a:t>
            </a:r>
          </a:p>
        </p:txBody>
      </p:sp>
    </p:spTree>
    <p:extLst>
      <p:ext uri="{BB962C8B-B14F-4D97-AF65-F5344CB8AC3E}">
        <p14:creationId xmlns:p14="http://schemas.microsoft.com/office/powerpoint/2010/main" val="1760981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3B4B99-55A3-489B-8CDD-C5E1F433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421DC-0454-4A94-ADFE-E5FFF48B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B102F-0910-40E4-9A5F-F8D3C4CC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43DC3-8487-4CD8-B757-561CB56F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3DDFF-714E-49B8-9826-B1152762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Local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71290-42E1-47BC-90B4-B72D5127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Independent signals converge into one explainable intervention.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D790A-B625-471D-9F5A-4365AE53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9715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A51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95AB0-911E-4E81-A193-2A3F8246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527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70131-6202-4952-BB2A-3746DB47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24125"/>
            <a:ext cx="671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Audio file  ·  Microphone capture  ·  Transcript 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A8C4D-B834-4AEF-B540-F7814AA3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908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E7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070C5-3E6D-43AA-AAC2-9AACAF40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9715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2E39"/>
          </a:solidFill>
          <a:ln xmlns:a="http://schemas.openxmlformats.org/drawingml/2006/main" w="9525">
            <a:solidFill>
              <a:srgbClr val="2A51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5A348-7315-4FF0-924F-1D395AEE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99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LOCAL INFERENCE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C44FF-3ED2-42F0-9DF2-6D3CE315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81375"/>
            <a:ext cx="671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whisper.cpp ASR  ·  Security-term normalization  ·  Acoustic anomaly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F609B-6E4F-4BAF-A0AC-70E7F283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4810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E7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6179B-9672-44A2-9110-C56E4ACF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715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03E"/>
          </a:solidFill>
          <a:ln xmlns:a="http://schemas.openxmlformats.org/drawingml/2006/main" w="9525">
            <a:solidFill>
              <a:srgbClr val="2A51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BA9B5-39EE-4129-B89D-6C39FBB6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67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CONVERSATION INTELLIGENCE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F05F6-E514-4836-99D5-587FE5CB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38625"/>
            <a:ext cx="671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Tactic detector  ·  Language baseline  ·  Attack progression  ·  STDM-1 shadow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11817-4FD6-491F-BCD7-C113316E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7053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E7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94A71-F045-4C2F-9D3C-EC8DE5E5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715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A38"/>
          </a:solidFill>
          <a:ln xmlns:a="http://schemas.openxmlformats.org/drawingml/2006/main" w="9525">
            <a:solidFill>
              <a:srgbClr val="2A51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65884-CAEB-4207-A37D-34AFA738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INTERVENTION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F6054-D885-4C95-A07C-D823FAD9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95875"/>
            <a:ext cx="671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Threat score  ·  Timeline  ·  Evidence  ·  Recommended action  ·  Local incident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D487B4-E9E0-4A33-A192-767B44FE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81025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Fail-safe design: if voice analysis fails, scam-language and behavior analysis continue.</a:t>
            </a:r>
          </a:p>
        </p:txBody>
      </p:sp>
    </p:spTree>
    <p:extLst>
      <p:ext uri="{BB962C8B-B14F-4D97-AF65-F5344CB8AC3E}">
        <p14:creationId xmlns:p14="http://schemas.microsoft.com/office/powerpoint/2010/main" val="13273374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391749-6AC1-46DB-BD0B-5ED94F11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TECHNICAL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0367B-3275-416F-A4DE-82925F38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88C53-E12E-4BC6-9D28-00AD1155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20152-5DE7-4DC0-975E-E0B2B9A6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EC34C-1FF9-4B64-972E-DAAF3C92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Behavior-first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1CAEE-7213-4103-8194-F91CD8C1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Voice authenticity can add context. The conversation drives the safety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A6A33-AF7E-496D-A166-E91ECDCC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9C050-4913-490D-9C72-0E9AD1CD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33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Tactics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0F937-241C-40DE-8FD4-E6648052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4175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Direct phrase evidence for authority claims, threats, urgency, isolation, credentials, payments and remote access.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0D8D0-3087-43BC-AABB-43E036DC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190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45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B8A0D-653E-411E-9AA5-C4F21B6E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EAF68-B0AC-49B3-AA8E-D9ECE1C1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33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Progression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106B5-AF78-48F1-B507-CDF952E6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24175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Accumulates timestamps and repeated tactics. A scam can branch and escalate without following one fixed script.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ABE1C-5B9F-4C2A-ABBB-0888289A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4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C62C6-D786-436C-882F-ACC2C046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38533-C58E-432A-BE49-61AB186B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577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Evidence fusion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D8D98-7094-4222-A240-D1315541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347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57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 human scam script can reach HIGH or CRITICAL even when the voice signal is human or unavailable.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93C4E-579A-4C61-88F1-0025C73E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38625"/>
            <a:ext cx="19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45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B28BE-9731-421A-AC2E-A3CEED8F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86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103D5-CE99-4FB9-B2A4-97C0C4D5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577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Uncertainty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64777-F1BC-4D38-BCA3-9D3065E3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48250"/>
            <a:ext cx="347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57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Conflicting or insufficient evidence stays VERIFY. The tool recommends independent verification, not a legal conclusion.</a:t>
            </a:r>
          </a:p>
        </p:txBody>
      </p:sp>
    </p:spTree>
    <p:extLst>
      <p:ext uri="{BB962C8B-B14F-4D97-AF65-F5344CB8AC3E}">
        <p14:creationId xmlns:p14="http://schemas.microsoft.com/office/powerpoint/2010/main" val="7927634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058829-BCCF-4C5D-AAB9-E64F83B8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DECISION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9453A-1ECF-4DB0-ACAF-46285478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B1C3B-C16B-406B-9698-A2E64A54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71EDD-4212-4877-BE30-F8E8D9DA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66117-A62B-40DA-BEB9-AC66A0B6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STDM-1 and calibrated uncertainty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D4BDE-D896-4B27-B308-05C15391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 bounded model measures decision state. It does not create artificial certainty.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64B5F-EFA2-4F06-8F9E-944E9BC5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STATE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8CAD8-8EE1-4969-B6D5-F174E2B1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4E6B1-810B-44DF-8F25-6A1D3518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904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78487-803B-44AA-9B17-F0D82DF9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NORMAL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A6F62-E15D-4777-A64D-4A7DB166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5FE94-7F20-4D9C-8258-B90570F4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52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E84E9-EB28-4362-AEF5-990819B6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SUSPICIOUS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B01CB-3FBC-4BDF-B905-55F8C2AF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318E0-B827-4A00-A8C1-E86044ED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857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0C4ED-EFC6-46A2-A0E9-2B89FF91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IMPERSONATION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3565F-2421-4D51-9948-94C9A893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675DE6-F0B4-49DC-9693-FDCC5C84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8D735-45EF-40A0-9D86-25D49E49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MANIPULATION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DBF716-C049-4333-9280-48EF500E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5429E-4D9F-4A7B-AFDF-1C83D4B1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2619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6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6D312-7F28-4A9A-A2EB-5D336402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CREDENTIAL EXTRACTION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5354B-4C99-4C89-8B65-48776972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50C8BB-1386-4A73-A4FE-BAED325C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6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A51399-C218-4395-A6F5-A294F0AF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FINANCIAL EXTRACTION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60D52F-1004-436F-9A0E-7CA14FAA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76500"/>
            <a:ext cx="3409950" cy="25908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3056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0F9949-DCF4-4998-A26E-BD66D377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CURRENT DEPLOYMENT 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134016-674E-453A-A8BE-78C81F8C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71825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SHADOW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FE25F2-82EE-43AA-ADF4-837F454D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814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97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STDM-1 returns a state distribution and uncertainty, but it cannot alter alerts until independent real-call validation passes.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E9AE71-30BD-4F81-9D6E-36360F39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8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Development check: 66.67% state accuracy  ·  ECE 0.09708</a:t>
            </a:r>
          </a:p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Synthetic contrast data only.</a:t>
            </a:r>
          </a:p>
        </p:txBody>
      </p:sp>
    </p:spTree>
    <p:extLst>
      <p:ext uri="{BB962C8B-B14F-4D97-AF65-F5344CB8AC3E}">
        <p14:creationId xmlns:p14="http://schemas.microsoft.com/office/powerpoint/2010/main" val="20113178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B391DA-ED0B-4A39-8DB5-7EB8C911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FEASIBILITY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F68BA-502E-4EEE-8F38-5D81431C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BC6D9-7E93-4CF9-A06E-4241B4D0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3CB5A-34F3-479A-9286-3C50FEB3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F2E28-8231-498F-9BC7-1F3E062B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Measured local performance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48FE8-6381-430C-A08F-9C86294F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The prototype runs offline after one-time model setup.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FABF5-EF14-4162-BD01-E6772C89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2047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747B8-DF8A-4F66-88D5-47C5095B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047"/>
          </a:bodyPr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0.85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742BD-9DBD-4AF2-8B71-E0B7AD1F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052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mean text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3DDD3-B5E0-4C19-B05C-DCEDE588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67000"/>
            <a:ext cx="2047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7DC70-F7AE-4461-B634-10219E01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047"/>
          </a:bodyPr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1.08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4FC2E-6A0E-432D-8ABB-A3B9B1B6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052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mean local Whisper ASR</a:t>
            </a:r>
          </a:p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on a 10.5 s validation clip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D520B-B879-43D6-9086-608CB8F2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67000"/>
            <a:ext cx="2047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5A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510B6-653D-4391-9874-33105FF3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480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047"/>
          </a:bodyPr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68BBD-2C8F-4ED7-87DE-1DA71156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052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automated tests passed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6D676-73E6-4E08-923A-A1370E28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67000"/>
            <a:ext cx="2047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5A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C62E1-E9B6-4ED3-8AE1-B834691A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480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047"/>
          </a:bodyPr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20 / 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B82D0-D75F-4A89-BC15-72710F25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7052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841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curated multilingual regression</a:t>
            </a:r>
          </a:p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suite passed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655D1-E124-4115-BAD4-3F1C5C7C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43758-822E-4ECF-B6A8-B1278C11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Offline 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E85E4E-DFD7-4A94-ACA6-0570DEEE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Local whisper.cpp model, local JSON classifiers, local evidence fusion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66742E-2AF8-42DB-BBDC-08BE08ED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911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Privacy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428D8E-5557-42B3-A526-ECDF22D4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43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Cloud API calls: NONE</a:t>
            </a:r>
          </a:p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Transcript persistence: OFF by default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74382-9CB7-419D-B772-E5A910E9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Safety fallback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75A11A-DA5C-4EAB-9D0F-BC0BA78D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43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Voice-auth failure never stops scam-language and behavior analysis</a:t>
            </a:r>
          </a:p>
        </p:txBody>
      </p:sp>
    </p:spTree>
    <p:extLst>
      <p:ext uri="{BB962C8B-B14F-4D97-AF65-F5344CB8AC3E}">
        <p14:creationId xmlns:p14="http://schemas.microsoft.com/office/powerpoint/2010/main" val="13940055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E038DB-E8F7-4BAA-9BF5-2F143FCD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838ED-E6CD-44E8-BF92-ED76629A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124D7-4779-481E-9209-C13FE228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AEA99-3813-42BA-9548-2718C138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921E8-6174-4380-804F-89DD3ADC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A 90-second judge demonstration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74432-6BB7-4CEA-9086-3F6D704B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Show the decision boundary before showing any implementation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3FB02-AAC9-481C-893B-BDCC4507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8E583-CF62-417F-8A76-4910A88B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670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16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929E6-1FAF-4CB8-96C4-AFAA4B47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57450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Safe human 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6D2D7-F741-4538-BBDA-BC5B179D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F3766-9DFB-4322-BE8C-BC760A25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E205E-7945-468A-B565-CFAB9132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16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0714E-9EDA-42D3-AA70-CB4F50B7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6707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Synthetic voice, safe 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5B416-99C0-417C-8FD6-FB0FF3A5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670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70C50-C244-4737-BB0C-01D26D2D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880D7-9827-4058-BC65-2B98FE93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8625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16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1E87D-EDDC-4BD6-BF69-CE3BB1CD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76700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Digital-arrest scam in segments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1C88F-E045-492A-9DA0-0D78A160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76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6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626C"/>
                </a:solidFill>
                <a:latin typeface="Helvetica Neue"/>
                <a:ea typeface="Helvetica Neue"/>
                <a:cs typeface="Helvetica Neue"/>
              </a:rPr>
              <a:t>VERIFY → HIGH → CRITICAL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1ACB1-7D1F-4CCD-8D8A-F96B1E58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96462-B58A-40FF-9715-42E27128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95875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16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1D67C-795D-4B15-BD74-419818DE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8632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Tamil or Hinglish scam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A1370-2CDE-4C24-9FA9-99F625A9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863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HIGH / CRITICAL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7E17BE-809F-4ED0-B56E-F7E41369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810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F2B3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22D35A-A5FF-40A4-AE3F-1D3A0B87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007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Decision rationale: authority claim · legal threat · isolation attempt · payment request</a:t>
            </a:r>
          </a:p>
        </p:txBody>
      </p:sp>
    </p:spTree>
    <p:extLst>
      <p:ext uri="{BB962C8B-B14F-4D97-AF65-F5344CB8AC3E}">
        <p14:creationId xmlns:p14="http://schemas.microsoft.com/office/powerpoint/2010/main" val="18263512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6DCD2-F9D2-459B-901B-DE16D550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TECH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EF406-5AD0-43C1-ADA8-D839286F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4024A-39C9-45ED-9E6A-990F1206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A5B3E-E9BF-4934-A1F9-014BEFEF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76381-B7A3-4D0E-97D0-9A7B3CF3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Practical technology choices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BFB37-0426-4521-B12F-AEF0F451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Small, local components reduce demo risk and make the system explainable.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46CFA-2E3A-47CB-A3AF-5C0FA10A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31F23-4B87-4BE5-AD36-6ED6F899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LOCAL SPEECH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980AC-54B3-4B7F-9F67-C1C421EC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whisper.cpp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multilingual base model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ffmpeg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5749D-26FE-4CD7-B66D-2490E445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F9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6C94A-02D4-401E-931C-E63A46D4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9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SECURITY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29558-772A-44DC-A837-D1307682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Python 3.11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rule taxonomy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attack progression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fusion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2DC95-9DFC-4BF2-83AF-3240739F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29F12-93B2-4743-9B6E-08175C6B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DECISION 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CBD40-C6FE-4F81-9AFB-4BE58B97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JSON Multinomial NB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ASR-noise augmentation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STDM-1 shadow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5DCF1B-3200-4E14-91A7-7DF45613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5A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68926-6C75-4A8A-8E0D-3C89CD46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9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BB86FB-C080-49C2-BA12-D5CB91F5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8612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Local HTTP service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browser microphone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incident report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pytest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473F4-E47B-4F4D-ABAA-2D4DE989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2BEB14-08C6-4B0C-910A-FBCAE654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Why this stack is feasible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912FB-4AB4-4E03-942C-A38EB13B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81625"/>
            <a:ext cx="671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No cloud LLM dependency. Safe JSON artifacts. Graceful degradation when ASR or voice analysis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1361450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43F7C-F0D4-42DE-90D8-BE6FBF6A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69D4D-6704-4D6B-84FE-197B0806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17B06-9345-4329-A6DF-7CF32D0D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62972-51A0-45E9-9AAD-86DE1000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39C48-1FD5-4B88-9342-F0C83A17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The intervention protects the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36C3C-F2FC-4B59-B7B8-C9A73A16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 clear pause can prevent irreversible action.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d6553750d4596"/>
          <a:srcRect xmlns:a="http://schemas.openxmlformats.org/drawingml/2006/main" l="10735" t="0" r="10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057400"/>
            <a:ext cx="5715000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E2ADA-A637-4A71-B5FC-D85D412F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57400"/>
            <a:ext cx="6105525" cy="4095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31F">
                  <a:alpha val="65882"/>
                </a:srgbClr>
              </a:gs>
              <a:gs pos="22000">
                <a:srgbClr val="07131F">
                  <a:alpha val="100000"/>
                </a:srgbClr>
              </a:gs>
              <a:gs pos="100000">
                <a:srgbClr val="07131F">
                  <a:alpha val="10000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2CE2E-A144-45BA-BB8E-7E068E60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People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0D498-FD2C-4D3E-A01E-A146D92E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1467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964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A plain-language warning gives families time to stop, verify and ask for help.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5A04A-A52B-480D-8D8A-51F4E172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Institutions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66164-8888-4D29-B90D-7F7BE6BE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48175"/>
            <a:ext cx="3733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28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Explainable evidence helps banks, telecom teams and cyber volunteers guide users without making accusations.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4F5C9-43B7-4084-9ADB-B6D3E52E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86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Inclusion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5C512-558A-4AB8-96AB-99B7A386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6737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825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English, Tamil, Hindi and Hinglish — security beyond English-only tooling.</a:t>
            </a:r>
          </a:p>
        </p:txBody>
      </p:sp>
    </p:spTree>
    <p:extLst>
      <p:ext uri="{BB962C8B-B14F-4D97-AF65-F5344CB8AC3E}">
        <p14:creationId xmlns:p14="http://schemas.microsoft.com/office/powerpoint/2010/main" val="2784368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F76BA-4A14-4A14-99DD-109D0C12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35922-A29E-4777-8BBF-7B8D24C2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BC032-5149-401A-88D9-D915C4A0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3ED16-E8AD-454E-9A0D-D5EA2F5F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79E19-B340-48DE-9ED0-0C26CE9D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440"/>
          </a:bodyPr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SCAMTRACE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5A31C-4BCA-4645-8519-BA1D9019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191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Detect the manipulation.</a:t>
            </a:r>
          </a:p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Explain the attack.</a:t>
            </a:r>
          </a:p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Protect the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8100D-EA9E-4697-BD44-7598466A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06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DA4DC-738D-47AF-9FF3-C9A4AB55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 local conversational security layer designed for the moment a person needs to pause.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42B16-4F6E-402B-A009-82D52FBA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048000" cy="3048000"/>
          </a:xfrm>
          <a:prstGeom xmlns:a="http://schemas.openxmlformats.org/drawingml/2006/main" prst="roundRect">
            <a:avLst>
              <a:gd name="adj" fmla="val 6875"/>
            </a:avLst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D59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DFD5D-F6BE-47A8-ABB0-54F91879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540EC-D076-4178-8710-04571285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19375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1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Human scam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Threat progression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Explainable intervention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D994C-1691-464C-A93A-AC800572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958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Ready locally at 127.0.0.1:8765</a:t>
            </a:r>
          </a:p>
        </p:txBody>
      </p:sp>
    </p:spTree>
    <p:extLst>
      <p:ext uri="{BB962C8B-B14F-4D97-AF65-F5344CB8AC3E}">
        <p14:creationId xmlns:p14="http://schemas.microsoft.com/office/powerpoint/2010/main" val="13397106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BF84D7-5B8C-4DEE-8E7A-14E1CB15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6EA40-A635-48E9-9516-AA440D55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5E082-7F77-47ED-BB32-A29D5913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37B91-D718-47A6-BC75-9E203A33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34691-D741-42C5-B962-9C365D0E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Research and reference 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8F741-F626-4488-91E4-22C4AEEA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Primary public sources and model-development references.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D5040-538E-4B29-BB11-FF1F144E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B6A00-BA05-4FB3-899B-DD2215E9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E69D9-5C70-41AA-8891-EC6AC381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33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Ministry of Home Affairs, Rajya Sabha USQ 1341, 11 Feb 2026. Cybercrime Reporting and Investigation.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86367-84CD-44DF-8CCA-F54BC714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99CD3-AF69-4E36-88DE-0B8B7311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61898-6A81-42ED-8F9E-EA24C742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908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MHA / PIB, 14 May 2024. Advisory on digital-arrest fraud.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CDA4C9-B829-44C9-913C-AB02891F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565F3-C03D-4A59-ADF2-C932BDCF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111EE-A4EC-4DA5-AEFB-3264B84B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480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PMO / PIB, 27 Oct 2024. Mann Ki Baat warning: no system of digital arrest.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693CC-470A-41F9-A634-FF51E88B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E130D-2CD1-4670-9A45-B9DE07E3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5D43E-D88F-4027-8777-583D6B25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052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Rajya Sabha Standing Committee, Report 254, 20 Aug 2025. Cyber-financial crime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6464C-0C98-4185-B0DA-928AAC6B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3EBFB2-F484-4469-94C6-A0FC7B35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104ED-3737-469B-8851-75567AC4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624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CERT-In CIAD-2024-0060, 27 Nov 2024. Deepfake risks include synthetic audio and social engineering.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E2DC4B-4FC1-4FBA-BC25-DA12BE53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5B09F-0D33-4A42-803F-5F21F1AB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BA9D00-E2CB-485B-AF47-4BAB8524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9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Radford et al., 2022. Robust Speech Recognition via Large-Scale Weak Supervision.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6F8543-6F45-4FD1-AC2E-67A37E9A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A93FB4-1FD7-4B14-9740-9ACD05D2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F64EF8-6FCA-4A3A-AA32-8B3221BD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768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Yamagishi et al., 2021. ASVspoof 2021: deepfake speech detection evaluation.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3AE8B7-B7B0-479E-802B-10B9F802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Direct links and source notes appear in the speaker notes. SCAMTRACE performance claims refer only to its recorded local reports.</a:t>
            </a:r>
          </a:p>
        </p:txBody>
      </p:sp>
    </p:spTree>
    <p:extLst>
      <p:ext uri="{BB962C8B-B14F-4D97-AF65-F5344CB8AC3E}">
        <p14:creationId xmlns:p14="http://schemas.microsoft.com/office/powerpoint/2010/main" val="1936061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2026-09-21T19:06:15.1610000Z</dcterms:created>
  <dcterms:modified xsi:type="dcterms:W3CDTF">2026-09-21T19:06:15.1610000Z</dcterms:modified>
</coreProperties>
</file>